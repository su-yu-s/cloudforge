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8288000" cy="10287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字幕页用于 CloudForge 项目演示视频，政策摘要不构成项目满足 BIM 交付标准或法定验收要求的证明。</a:t>
            </a:r>
          </a:p>
          <a:p>
            <a:r>
              <a:t>苏建建管〔2026〕21号《关于推进江苏省智能建造发展的实施方案》：正文第12页及附件2第18页，竣工交付指标为试点项目评价要求。</a:t>
            </a:r>
          </a:p>
          <a:p>
            <a:r>
              <a:t>https://file.smejs.cn/file/group1/M00/01/9A/rBIAAWmv3MeAcjauAAjsw3aSzho318.pdf</a:t>
            </a:r>
          </a:p>
          <a:p>
            <a:r>
              <a:t>苏政办发〔2026〕16号《关于加快全省建筑业转型升级的若干措施》，2026年4月3日印发，第三项。</a:t>
            </a:r>
          </a:p>
          <a:p>
            <a:r>
              <a:t>https://www.jiangsu.gov.cn/art/2026/4/23/art_64797_11761512.html</a:t>
            </a:r>
          </a:p>
          <a:p>
            <a:r>
              <a:t>宁建办〔2026〕147号《关于进一步加强智能建造技术应用的通知》，2026年9月1日，第二部分第一项。门槛与“新开工”“政府投资”范围同时保留。</a:t>
            </a:r>
          </a:p>
          <a:p>
            <a:r>
              <a:t>https://sjw.nanjing.gov.cn/njscxjswyh/202609/t20260921_5914764.html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字幕页用于 CloudForge 项目演示视频，政策摘要不构成项目满足 BIM 交付标准或法定验收要求的证明。</a:t>
            </a:r>
          </a:p>
          <a:p>
            <a:r>
              <a:t>苏建建管〔2026〕21号《关于推进江苏省智能建造发展的实施方案》：正文第12页及附件2第18页，竣工交付指标为试点项目评价要求。</a:t>
            </a:r>
          </a:p>
          <a:p>
            <a:r>
              <a:t>https://file.smejs.cn/file/group1/M00/01/9A/rBIAAWmv3MeAcjauAAjsw3aSzho318.pdf</a:t>
            </a:r>
          </a:p>
          <a:p>
            <a:r>
              <a:t>苏政办发〔2026〕16号《关于加快全省建筑业转型升级的若干措施》，2026年4月3日印发，第三项。</a:t>
            </a:r>
          </a:p>
          <a:p>
            <a:r>
              <a:t>https://www.jiangsu.gov.cn/art/2026/4/23/art_64797_11761512.html</a:t>
            </a:r>
          </a:p>
          <a:p>
            <a:r>
              <a:t>宁建办〔2026〕147号《关于进一步加强智能建造技术应用的通知》，2026年9月1日，第二部分第一项。门槛与“新开工”“政府投资”范围同时保留。</a:t>
            </a:r>
          </a:p>
          <a:p>
            <a:r>
              <a:t>https://sjw.nanjing.gov.cn/njscxjswyh/202609/t20260921_5914764.html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8" name="title"/>
          <p:cNvSpPr>
            <a:spLocks noGrp="1"/>
          </p:cNvSpPr>
          <p:nvPr/>
        </p:nvSpPr>
        <p:spPr>
          <a:xfrm>
            <a:off x="1295400" y="942975"/>
            <a:ext cx="15240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25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525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5250" b="1">
              <a:solidFill>
                <a:srgbClr val="1521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0205" y="822960"/>
            <a:ext cx="16628110" cy="136017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sz="4000">
                <a:solidFill>
                  <a:srgbClr val="65718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CloudForge </a:t>
            </a:r>
            <a:r>
              <a:rPr lang="zh-CN" altLang="en-US" sz="4000" i="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云铸</a:t>
            </a:r>
            <a:r>
              <a:rPr lang="en-US" altLang="zh-CN" sz="4000" i="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——</a:t>
            </a:r>
            <a:r>
              <a:rPr lang="zh-CN" altLang="en-US" sz="4000" i="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从百万点云到实体参数的智造引擎</a:t>
            </a:r>
            <a:endParaRPr lang="zh-CN" altLang="en-US" sz="4000" i="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2390" y="1667510"/>
            <a:ext cx="9690100" cy="8618220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435" y="1543050"/>
            <a:ext cx="8827770" cy="8743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itle"/>
          <p:cNvSpPr>
            <a:spLocks noGrp="1"/>
          </p:cNvSpPr>
          <p:nvPr/>
        </p:nvSpPr>
        <p:spPr>
          <a:xfrm>
            <a:off x="110490" y="866775"/>
            <a:ext cx="1650111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25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525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江苏智能建造政策背景</a:t>
            </a:r>
            <a:endParaRPr sz="5250" b="1">
              <a:solidFill>
                <a:srgbClr val="1521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roject"/>
          <p:cNvSpPr>
            <a:spLocks noGrp="1"/>
          </p:cNvSpPr>
          <p:nvPr/>
        </p:nvSpPr>
        <p:spPr>
          <a:xfrm>
            <a:off x="160020" y="1800225"/>
            <a:ext cx="1267968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75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CloudForge 云铸</a:t>
            </a:r>
            <a:endParaRPr sz="2175" b="0">
              <a:solidFill>
                <a:srgbClr val="6571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policy-1-id"/>
          <p:cNvSpPr>
            <a:spLocks noGrp="1"/>
          </p:cNvSpPr>
          <p:nvPr/>
        </p:nvSpPr>
        <p:spPr>
          <a:xfrm>
            <a:off x="160020" y="2914650"/>
            <a:ext cx="582168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324E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150" b="1">
                <a:solidFill>
                  <a:srgbClr val="324E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324E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苏建建管〔2026〕21号</a:t>
            </a:r>
            <a:endParaRPr sz="3150" b="1">
              <a:solidFill>
                <a:srgbClr val="324E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policy-1-date"/>
          <p:cNvSpPr>
            <a:spLocks noGrp="1"/>
          </p:cNvSpPr>
          <p:nvPr/>
        </p:nvSpPr>
        <p:spPr>
          <a:xfrm>
            <a:off x="0" y="3581400"/>
            <a:ext cx="5981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2026年3月修订</a:t>
            </a:r>
            <a:endParaRPr sz="2100" b="0">
              <a:solidFill>
                <a:srgbClr val="6571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olicy-1-heading"/>
          <p:cNvSpPr>
            <a:spLocks noGrp="1"/>
          </p:cNvSpPr>
          <p:nvPr/>
        </p:nvSpPr>
        <p:spPr>
          <a:xfrm>
            <a:off x="5697855" y="2828925"/>
            <a:ext cx="1075563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60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 交付标准</a:t>
            </a:r>
            <a:endParaRPr sz="3600" b="1">
              <a:solidFill>
                <a:srgbClr val="1521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olicy-1-line-1"/>
          <p:cNvSpPr>
            <a:spLocks noGrp="1"/>
          </p:cNvSpPr>
          <p:nvPr/>
        </p:nvSpPr>
        <p:spPr>
          <a:xfrm>
            <a:off x="5697220" y="3505200"/>
            <a:ext cx="1135253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三维数字化竣工验收备案</a:t>
            </a:r>
            <a:endParaRPr sz="3150" b="0">
              <a:solidFill>
                <a:srgbClr val="1521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olicy-1-line-2"/>
          <p:cNvSpPr>
            <a:spLocks noGrp="1"/>
          </p:cNvSpPr>
          <p:nvPr/>
        </p:nvSpPr>
        <p:spPr>
          <a:xfrm>
            <a:off x="5742940" y="4086225"/>
            <a:ext cx="1130681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试点项目：基于 BIM 的数字化交付</a:t>
            </a:r>
            <a:endParaRPr sz="3150" b="0">
              <a:solidFill>
                <a:srgbClr val="1521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olicy-2-id"/>
          <p:cNvSpPr>
            <a:spLocks noGrp="1"/>
          </p:cNvSpPr>
          <p:nvPr/>
        </p:nvSpPr>
        <p:spPr>
          <a:xfrm>
            <a:off x="160020" y="5314950"/>
            <a:ext cx="582168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324E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150" b="1">
                <a:solidFill>
                  <a:srgbClr val="324E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324E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苏政办发〔2026〕16号</a:t>
            </a:r>
            <a:endParaRPr sz="3150" b="1">
              <a:solidFill>
                <a:srgbClr val="324E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olicy-2-date"/>
          <p:cNvSpPr>
            <a:spLocks noGrp="1"/>
          </p:cNvSpPr>
          <p:nvPr/>
        </p:nvSpPr>
        <p:spPr>
          <a:xfrm>
            <a:off x="220345" y="5981700"/>
            <a:ext cx="576135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2026年4月印发</a:t>
            </a:r>
            <a:endParaRPr sz="2100" b="0">
              <a:solidFill>
                <a:srgbClr val="6571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olicy-2-heading"/>
          <p:cNvSpPr>
            <a:spLocks noGrp="1"/>
          </p:cNvSpPr>
          <p:nvPr/>
        </p:nvSpPr>
        <p:spPr>
          <a:xfrm>
            <a:off x="5591175" y="5238750"/>
            <a:ext cx="1145857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60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60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智能建造管理服务平台</a:t>
            </a:r>
            <a:endParaRPr sz="3600" b="1">
              <a:solidFill>
                <a:srgbClr val="1521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olicy-2-line"/>
          <p:cNvSpPr>
            <a:spLocks noGrp="1"/>
          </p:cNvSpPr>
          <p:nvPr/>
        </p:nvSpPr>
        <p:spPr>
          <a:xfrm>
            <a:off x="5625465" y="5934075"/>
            <a:ext cx="1142428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数字化成果交付、电子工程档案</a:t>
            </a:r>
            <a:endParaRPr sz="3150" b="0">
              <a:solidFill>
                <a:srgbClr val="1521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olicy-3-id"/>
          <p:cNvSpPr>
            <a:spLocks noGrp="1"/>
          </p:cNvSpPr>
          <p:nvPr/>
        </p:nvSpPr>
        <p:spPr>
          <a:xfrm>
            <a:off x="210185" y="7477125"/>
            <a:ext cx="577151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1">
                <a:solidFill>
                  <a:srgbClr val="324E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150" b="1">
                <a:solidFill>
                  <a:srgbClr val="324E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324E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宁建办〔2026〕147号</a:t>
            </a:r>
            <a:endParaRPr sz="3150" b="1">
              <a:solidFill>
                <a:srgbClr val="324E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olicy-3-date"/>
          <p:cNvSpPr>
            <a:spLocks noGrp="1"/>
          </p:cNvSpPr>
          <p:nvPr/>
        </p:nvSpPr>
        <p:spPr>
          <a:xfrm>
            <a:off x="405130" y="8143875"/>
            <a:ext cx="557657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2100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2026年9月印发</a:t>
            </a:r>
            <a:endParaRPr sz="2100" b="0">
              <a:solidFill>
                <a:srgbClr val="6571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olicy-3-heading"/>
          <p:cNvSpPr>
            <a:spLocks noGrp="1"/>
          </p:cNvSpPr>
          <p:nvPr/>
        </p:nvSpPr>
        <p:spPr>
          <a:xfrm>
            <a:off x="5591175" y="7400925"/>
            <a:ext cx="8241665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30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政府投资项目：明确智能建造应用要求</a:t>
            </a:r>
            <a:endParaRPr sz="3300" b="1">
              <a:solidFill>
                <a:srgbClr val="1521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olicy-3-line-1"/>
          <p:cNvSpPr>
            <a:spLocks noGrp="1"/>
          </p:cNvSpPr>
          <p:nvPr/>
        </p:nvSpPr>
        <p:spPr>
          <a:xfrm>
            <a:off x="5697220" y="8096250"/>
            <a:ext cx="1135253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新开工房建：总建筑面积 2 万㎡以上</a:t>
            </a:r>
            <a:endParaRPr sz="3150" b="0">
              <a:solidFill>
                <a:srgbClr val="1521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olicy-3-line-2"/>
          <p:cNvSpPr>
            <a:spLocks noGrp="1"/>
          </p:cNvSpPr>
          <p:nvPr/>
        </p:nvSpPr>
        <p:spPr>
          <a:xfrm>
            <a:off x="5656580" y="8677275"/>
            <a:ext cx="1139317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0">
                <a:solidFill>
                  <a:srgbClr val="1521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新开工市政：工程造价 2000 万元以上</a:t>
            </a:r>
            <a:endParaRPr sz="3150" b="0">
              <a:solidFill>
                <a:srgbClr val="1521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ources"/>
          <p:cNvSpPr>
            <a:spLocks noGrp="1"/>
          </p:cNvSpPr>
          <p:nvPr/>
        </p:nvSpPr>
        <p:spPr>
          <a:xfrm>
            <a:off x="341630" y="9715500"/>
            <a:ext cx="1630807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25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571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来源：江苏省住建厅、江苏省政府办公厅、南京市建委相关政策文件</a:t>
            </a:r>
            <a:endParaRPr sz="1725" b="0">
              <a:solidFill>
                <a:srgbClr val="6571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4450" y="20320"/>
            <a:ext cx="5545455" cy="3659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450" y="3888105"/>
            <a:ext cx="5522595" cy="449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31115"/>
            <a:ext cx="8858250" cy="1008443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265" y="0"/>
            <a:ext cx="9149715" cy="102063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WPS 演示</Application>
  <PresentationFormat>Converted Presentation</PresentationFormat>
  <Paragraphs>36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Open Sans</vt:lpstr>
      <vt:lpstr>FFont-Family</vt:lpstr>
      <vt:lpstr>Calibri</vt:lpstr>
      <vt:lpstr>黑体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CloudForge team</cp:lastModifiedBy>
  <cp:revision>1</cp:revision>
  <dcterms:created xsi:type="dcterms:W3CDTF">2026-10-13T13:19:29Z</dcterms:created>
  <dcterms:modified xsi:type="dcterms:W3CDTF">2026-10-13T13:19:29Z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A3389B985515452CA17B8D6453F6C47C_12</vt:lpwstr>
  </property>
  <property fmtid="{D5CDD505-2E9C-101B-9397-08002B2CF9AE}" pid="3" name="KSOProductBuildVer">
    <vt:lpwstr>2052-12.1.0.21915</vt:lpwstr>
  </property>
</Properties>
</file>