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</p:sldIdLst>
  <p:sldSz cx="18288000" cy="10287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字幕页用于 CloudForge 项目演示视频，政策摘要不构成项目满足 BIM 交付标准或法定验收要求的证明。</a:t>
            </a:r>
          </a:p>
          <a:p>
            <a:r>
              <a:t>苏建建管〔2026〕21号《关于推进江苏省智能建造发展的实施方案》：正文第12页及附件2第18页，竣工交付指标为试点项目评价要求。</a:t>
            </a:r>
          </a:p>
          <a:p>
            <a:r>
              <a:t>https://file.smejs.cn/file/group1/M00/01/9A/rBIAAWmv3MeAcjauAAjsw3aSzho318.pdf</a:t>
            </a:r>
          </a:p>
          <a:p>
            <a:r>
              <a:t>苏政办发〔2026〕16号《关于加快全省建筑业转型升级的若干措施》，2026年4月3日印发，第三项。</a:t>
            </a:r>
          </a:p>
          <a:p>
            <a:r>
              <a:t>https://www.jiangsu.gov.cn/art/2026/4/23/art_64797_11761512.html</a:t>
            </a:r>
          </a:p>
          <a:p>
            <a:r>
              <a:t>宁建办〔2026〕147号《关于进一步加强智能建造技术应用的通知》，2026年9月1日，第二部分第一项。门槛与“新开工”“政府投资”范围同时保留。</a:t>
            </a:r>
          </a:p>
          <a:p>
            <a:r>
              <a:t>https://sjw.nanjing.gov.cn/njscxjswyh/202609/t20260921_5914764.html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字幕页用于 CloudForge 项目演示视频，政策摘要不构成项目满足 BIM 交付标准或法定验收要求的证明。</a:t>
            </a:r>
          </a:p>
          <a:p>
            <a:r>
              <a:t>苏建建管〔2026〕21号《关于推进江苏省智能建造发展的实施方案》：正文第12页及附件2第18页，竣工交付指标为试点项目评价要求。</a:t>
            </a:r>
          </a:p>
          <a:p>
            <a:r>
              <a:t>https://file.smejs.cn/file/group1/M00/01/9A/rBIAAWmv3MeAcjauAAjsw3aSzho318.pdf</a:t>
            </a:r>
          </a:p>
          <a:p>
            <a:r>
              <a:t>苏政办发〔2026〕16号《关于加快全省建筑业转型升级的若干措施》，2026年4月3日印发，第三项。</a:t>
            </a:r>
          </a:p>
          <a:p>
            <a:r>
              <a:t>https://www.jiangsu.gov.cn/art/2026/4/23/art_64797_11761512.html</a:t>
            </a:r>
          </a:p>
          <a:p>
            <a:r>
              <a:t>宁建办〔2026〕147号《关于进一步加强智能建造技术应用的通知》，2026年9月1日，第二部分第一项。门槛与“新开工”“政府投资”范围同时保留。</a:t>
            </a:r>
          </a:p>
          <a:p>
            <a:r>
              <a:t>https://sjw.nanjing.gov.cn/njscxjswyh/202609/t20260921_5914764.html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828800" y="3886200"/>
            <a:ext cx="14630400" cy="14859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2743200" y="5657850"/>
            <a:ext cx="12801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828800" y="4286250"/>
            <a:ext cx="14630400" cy="1714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028700" y="800100"/>
            <a:ext cx="16230600" cy="12573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1028700" y="2857500"/>
            <a:ext cx="16230600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1028700" y="800100"/>
            <a:ext cx="16230600" cy="12573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1028700" y="2857500"/>
            <a:ext cx="7543800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9715500" y="2857500"/>
            <a:ext cx="7543800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028700" y="800100"/>
            <a:ext cx="16230600" cy="12573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1028700" y="2857500"/>
            <a:ext cx="7543800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18" name="title"/>
          <p:cNvSpPr>
            <a:spLocks noGrp="1"/>
          </p:cNvSpPr>
          <p:nvPr/>
        </p:nvSpPr>
        <p:spPr>
          <a:xfrm>
            <a:off x="1295400" y="942975"/>
            <a:ext cx="15240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525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525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5250" b="1">
              <a:solidFill>
                <a:srgbClr val="1521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70205" y="822960"/>
            <a:ext cx="16628110" cy="1360170"/>
          </a:xfrm>
          <a:prstGeom prst="rect">
            <a:avLst/>
          </a:prstGeom>
        </p:spPr>
        <p:txBody>
          <a:bodyPr>
            <a:noAutofit/>
          </a:bodyPr>
          <a:p>
            <a:pPr marL="0" indent="0" algn="ctr"/>
            <a:r>
              <a:rPr sz="4000">
                <a:solidFill>
                  <a:srgbClr val="657189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+mn-ea"/>
              </a:rPr>
              <a:t>CloudForge </a:t>
            </a:r>
            <a:r>
              <a:rPr lang="zh-CN" altLang="en-US" sz="4000" i="0">
                <a:solidFill>
                  <a:srgbClr val="333333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云铸</a:t>
            </a:r>
            <a:r>
              <a:rPr lang="en-US" altLang="zh-CN" sz="4000" i="0">
                <a:solidFill>
                  <a:srgbClr val="333333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——</a:t>
            </a:r>
            <a:r>
              <a:rPr lang="zh-CN" altLang="en-US" sz="4000" i="0">
                <a:solidFill>
                  <a:srgbClr val="333333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从百万点云到实体参数的智造引擎</a:t>
            </a:r>
            <a:endParaRPr lang="zh-CN" altLang="en-US" sz="4000" i="0">
              <a:solidFill>
                <a:srgbClr val="333333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2390" y="1667510"/>
            <a:ext cx="9690100" cy="8618220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6435" y="1543050"/>
            <a:ext cx="8827770" cy="87439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title"/>
          <p:cNvSpPr>
            <a:spLocks noGrp="1"/>
          </p:cNvSpPr>
          <p:nvPr/>
        </p:nvSpPr>
        <p:spPr>
          <a:xfrm>
            <a:off x="110490" y="866775"/>
            <a:ext cx="1650111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525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525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525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江苏智能建造政策背景</a:t>
            </a:r>
            <a:endParaRPr sz="5250" b="1">
              <a:solidFill>
                <a:srgbClr val="1521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" name="project"/>
          <p:cNvSpPr>
            <a:spLocks noGrp="1"/>
          </p:cNvSpPr>
          <p:nvPr/>
        </p:nvSpPr>
        <p:spPr>
          <a:xfrm>
            <a:off x="160020" y="1800225"/>
            <a:ext cx="1267968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2175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2175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CloudForge 云铸</a:t>
            </a:r>
            <a:endParaRPr sz="2175" b="0">
              <a:solidFill>
                <a:srgbClr val="65718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policy-1-id"/>
          <p:cNvSpPr>
            <a:spLocks noGrp="1"/>
          </p:cNvSpPr>
          <p:nvPr/>
        </p:nvSpPr>
        <p:spPr>
          <a:xfrm>
            <a:off x="160020" y="2914650"/>
            <a:ext cx="582168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150" b="1">
                <a:solidFill>
                  <a:srgbClr val="324E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3150" b="1">
                <a:solidFill>
                  <a:srgbClr val="324E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324E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苏建建管〔2026〕21号</a:t>
            </a:r>
            <a:endParaRPr sz="3150" b="1">
              <a:solidFill>
                <a:srgbClr val="324EB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policy-1-date"/>
          <p:cNvSpPr>
            <a:spLocks noGrp="1"/>
          </p:cNvSpPr>
          <p:nvPr/>
        </p:nvSpPr>
        <p:spPr>
          <a:xfrm>
            <a:off x="0" y="3581400"/>
            <a:ext cx="5981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2100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2026年3月修订</a:t>
            </a:r>
            <a:endParaRPr sz="2100" b="0">
              <a:solidFill>
                <a:srgbClr val="65718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policy-1-heading"/>
          <p:cNvSpPr>
            <a:spLocks noGrp="1"/>
          </p:cNvSpPr>
          <p:nvPr/>
        </p:nvSpPr>
        <p:spPr>
          <a:xfrm>
            <a:off x="5697855" y="2828925"/>
            <a:ext cx="1075563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60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360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60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BIM 交付标准</a:t>
            </a:r>
            <a:endParaRPr sz="3600" b="1">
              <a:solidFill>
                <a:srgbClr val="1521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policy-1-line-1"/>
          <p:cNvSpPr>
            <a:spLocks noGrp="1"/>
          </p:cNvSpPr>
          <p:nvPr/>
        </p:nvSpPr>
        <p:spPr>
          <a:xfrm>
            <a:off x="5697220" y="3505200"/>
            <a:ext cx="1135253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三维数字化竣工验收备案</a:t>
            </a:r>
            <a:endParaRPr sz="3150" b="0">
              <a:solidFill>
                <a:srgbClr val="1521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policy-1-line-2"/>
          <p:cNvSpPr>
            <a:spLocks noGrp="1"/>
          </p:cNvSpPr>
          <p:nvPr/>
        </p:nvSpPr>
        <p:spPr>
          <a:xfrm>
            <a:off x="5742940" y="4086225"/>
            <a:ext cx="1130681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试点项目：基于 BIM 的数字化交付</a:t>
            </a:r>
            <a:endParaRPr sz="3150" b="0">
              <a:solidFill>
                <a:srgbClr val="1521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policy-2-id"/>
          <p:cNvSpPr>
            <a:spLocks noGrp="1"/>
          </p:cNvSpPr>
          <p:nvPr/>
        </p:nvSpPr>
        <p:spPr>
          <a:xfrm>
            <a:off x="160020" y="5314950"/>
            <a:ext cx="582168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150" b="1">
                <a:solidFill>
                  <a:srgbClr val="324E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3150" b="1">
                <a:solidFill>
                  <a:srgbClr val="324E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324E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苏政办发〔2026〕16号</a:t>
            </a:r>
            <a:endParaRPr sz="3150" b="1">
              <a:solidFill>
                <a:srgbClr val="324EB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policy-2-date"/>
          <p:cNvSpPr>
            <a:spLocks noGrp="1"/>
          </p:cNvSpPr>
          <p:nvPr/>
        </p:nvSpPr>
        <p:spPr>
          <a:xfrm>
            <a:off x="220345" y="5981700"/>
            <a:ext cx="576135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2100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2026年4月印发</a:t>
            </a:r>
            <a:endParaRPr sz="2100" b="0">
              <a:solidFill>
                <a:srgbClr val="65718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policy-2-heading"/>
          <p:cNvSpPr>
            <a:spLocks noGrp="1"/>
          </p:cNvSpPr>
          <p:nvPr/>
        </p:nvSpPr>
        <p:spPr>
          <a:xfrm>
            <a:off x="5591175" y="5238750"/>
            <a:ext cx="11458575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60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360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60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智能建造管理服务平台</a:t>
            </a:r>
            <a:endParaRPr sz="3600" b="1">
              <a:solidFill>
                <a:srgbClr val="1521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policy-2-line"/>
          <p:cNvSpPr>
            <a:spLocks noGrp="1"/>
          </p:cNvSpPr>
          <p:nvPr/>
        </p:nvSpPr>
        <p:spPr>
          <a:xfrm>
            <a:off x="5625465" y="5934075"/>
            <a:ext cx="1142428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数字化成果交付、电子工程档案</a:t>
            </a:r>
            <a:endParaRPr sz="3150" b="0">
              <a:solidFill>
                <a:srgbClr val="1521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policy-3-id"/>
          <p:cNvSpPr>
            <a:spLocks noGrp="1"/>
          </p:cNvSpPr>
          <p:nvPr/>
        </p:nvSpPr>
        <p:spPr>
          <a:xfrm>
            <a:off x="210185" y="7477125"/>
            <a:ext cx="577151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150" b="1">
                <a:solidFill>
                  <a:srgbClr val="324E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3150" b="1">
                <a:solidFill>
                  <a:srgbClr val="324E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324E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宁建办〔2026〕147号</a:t>
            </a:r>
            <a:endParaRPr sz="3150" b="1">
              <a:solidFill>
                <a:srgbClr val="324EB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policy-3-date"/>
          <p:cNvSpPr>
            <a:spLocks noGrp="1"/>
          </p:cNvSpPr>
          <p:nvPr/>
        </p:nvSpPr>
        <p:spPr>
          <a:xfrm>
            <a:off x="405130" y="8143875"/>
            <a:ext cx="557657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2100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2100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2026年9月印发</a:t>
            </a:r>
            <a:endParaRPr sz="2100" b="0">
              <a:solidFill>
                <a:srgbClr val="65718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policy-3-heading"/>
          <p:cNvSpPr>
            <a:spLocks noGrp="1"/>
          </p:cNvSpPr>
          <p:nvPr/>
        </p:nvSpPr>
        <p:spPr>
          <a:xfrm>
            <a:off x="5591175" y="7400925"/>
            <a:ext cx="8241665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330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300" b="1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政府投资项目：明确智能建造应用要求</a:t>
            </a:r>
            <a:endParaRPr sz="3300" b="1">
              <a:solidFill>
                <a:srgbClr val="1521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policy-3-line-1"/>
          <p:cNvSpPr>
            <a:spLocks noGrp="1"/>
          </p:cNvSpPr>
          <p:nvPr/>
        </p:nvSpPr>
        <p:spPr>
          <a:xfrm>
            <a:off x="5697220" y="8096250"/>
            <a:ext cx="1135253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新开工房建：总建筑面积 2 万㎡以上</a:t>
            </a:r>
            <a:endParaRPr sz="3150" b="0">
              <a:solidFill>
                <a:srgbClr val="1521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policy-3-line-2"/>
          <p:cNvSpPr>
            <a:spLocks noGrp="1"/>
          </p:cNvSpPr>
          <p:nvPr/>
        </p:nvSpPr>
        <p:spPr>
          <a:xfrm>
            <a:off x="5656580" y="8677275"/>
            <a:ext cx="1139317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0">
                <a:solidFill>
                  <a:srgbClr val="15213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新开工市政：工程造价 2000 万元以上</a:t>
            </a:r>
            <a:endParaRPr sz="3150" b="0">
              <a:solidFill>
                <a:srgbClr val="15213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sources"/>
          <p:cNvSpPr>
            <a:spLocks noGrp="1"/>
          </p:cNvSpPr>
          <p:nvPr/>
        </p:nvSpPr>
        <p:spPr>
          <a:xfrm>
            <a:off x="341630" y="9715500"/>
            <a:ext cx="1630807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 algn="l">
              <a:defRPr sz="1725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</a:lstStyle>
          <a:p>
            <a:pPr algn="l">
              <a:defRPr sz="1725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65718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来源：江苏省住建厅、江苏省政府办公厅、南京市建委相关政策文件</a:t>
            </a:r>
            <a:endParaRPr sz="1725" b="0">
              <a:solidFill>
                <a:srgbClr val="65718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44450" y="20320"/>
            <a:ext cx="5545455" cy="3659505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4450" y="3888105"/>
            <a:ext cx="5522595" cy="44964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635" y="31115"/>
            <a:ext cx="8858250" cy="10084435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265" y="0"/>
            <a:ext cx="9149715" cy="102063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265</Words>
  <Application>WPS 演示</Application>
  <PresentationFormat>Converted Presentation</PresentationFormat>
  <Paragraphs>36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5" baseType="lpstr">
      <vt:lpstr>Arial</vt:lpstr>
      <vt:lpstr>宋体</vt:lpstr>
      <vt:lpstr>Wingdings</vt:lpstr>
      <vt:lpstr>微软雅黑</vt:lpstr>
      <vt:lpstr>Arial Unicode MS</vt:lpstr>
      <vt:lpstr>Aptos</vt:lpstr>
      <vt:lpstr>Segoe UI</vt:lpstr>
      <vt:lpstr>Open Sans</vt:lpstr>
      <vt:lpstr>FFont-Family</vt:lpstr>
      <vt:lpstr>Calibri</vt:lpstr>
      <vt:lpstr>黑体</vt:lpstr>
      <vt:lpstr>ChatGPT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一抚</cp:lastModifiedBy>
  <cp:revision>1</cp:revision>
  <dcterms:created xsi:type="dcterms:W3CDTF">2026-10-13T13:19:29Z</dcterms:created>
  <dcterms:modified xsi:type="dcterms:W3CDTF">2026-10-13T13:19:29Z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A3389B985515452CA17B8D6453F6C47C_12</vt:lpwstr>
  </property>
  <property fmtid="{D5CDD505-2E9C-101B-9397-08002B2CF9AE}" pid="3" name="KSOProductBuildVer">
    <vt:lpwstr>2052-12.1.0.21915</vt:lpwstr>
  </property>
</Properties>
</file>